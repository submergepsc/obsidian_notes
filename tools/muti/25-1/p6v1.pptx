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43"/>
  </p:handoutMasterIdLst>
  <p:sldIdLst>
    <p:sldId id="1528" r:id="rId4"/>
    <p:sldId id="5600" r:id="rId6"/>
    <p:sldId id="5612" r:id="rId7"/>
    <p:sldId id="5614" r:id="rId8"/>
    <p:sldId id="5602" r:id="rId9"/>
    <p:sldId id="5611" r:id="rId10"/>
    <p:sldId id="5603" r:id="rId11"/>
    <p:sldId id="5616" r:id="rId12"/>
    <p:sldId id="5608" r:id="rId13"/>
    <p:sldId id="5617" r:id="rId14"/>
    <p:sldId id="5619" r:id="rId15"/>
    <p:sldId id="5618" r:id="rId16"/>
    <p:sldId id="5620" r:id="rId17"/>
    <p:sldId id="5621" r:id="rId18"/>
    <p:sldId id="5622" r:id="rId19"/>
    <p:sldId id="5604" r:id="rId20"/>
    <p:sldId id="5631" r:id="rId21"/>
    <p:sldId id="5641" r:id="rId22"/>
    <p:sldId id="5640" r:id="rId23"/>
    <p:sldId id="5634" r:id="rId24"/>
    <p:sldId id="5635" r:id="rId25"/>
    <p:sldId id="5636" r:id="rId26"/>
    <p:sldId id="5638" r:id="rId27"/>
    <p:sldId id="5637" r:id="rId28"/>
    <p:sldId id="5639" r:id="rId29"/>
    <p:sldId id="5632" r:id="rId30"/>
    <p:sldId id="5642" r:id="rId31"/>
    <p:sldId id="5643" r:id="rId32"/>
    <p:sldId id="5645" r:id="rId33"/>
    <p:sldId id="5646" r:id="rId34"/>
    <p:sldId id="5647" r:id="rId35"/>
    <p:sldId id="5648" r:id="rId36"/>
    <p:sldId id="5649" r:id="rId37"/>
    <p:sldId id="5650" r:id="rId38"/>
    <p:sldId id="5651" r:id="rId39"/>
    <p:sldId id="5644" r:id="rId40"/>
    <p:sldId id="5607" r:id="rId41"/>
    <p:sldId id="1304" r:id="rId42"/>
  </p:sldIdLst>
  <p:sldSz cx="12192000" cy="6858000"/>
  <p:notesSz cx="9928225" cy="6797675"/>
  <p:custDataLst>
    <p:tags r:id="rId4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27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6" orient="horz" pos="38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se" initials="s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128"/>
    <a:srgbClr val="0A5000"/>
    <a:srgbClr val="095D3C"/>
    <a:srgbClr val="FFFFFF"/>
    <a:srgbClr val="254B25"/>
    <a:srgbClr val="3F7141"/>
    <a:srgbClr val="006600"/>
    <a:srgbClr val="659476"/>
    <a:srgbClr val="F5FFF5"/>
    <a:srgbClr val="E7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93" autoAdjust="0"/>
    <p:restoredTop sz="90636" autoAdjust="0"/>
  </p:normalViewPr>
  <p:slideViewPr>
    <p:cSldViewPr showGuides="1">
      <p:cViewPr varScale="1">
        <p:scale>
          <a:sx n="100" d="100"/>
          <a:sy n="100" d="100"/>
        </p:scale>
        <p:origin x="78" y="486"/>
      </p:cViewPr>
      <p:guideLst>
        <p:guide pos="438"/>
        <p:guide pos="7227"/>
        <p:guide orient="horz" pos="572"/>
        <p:guide orient="horz" pos="709"/>
        <p:guide orient="horz" pos="38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gs" Target="tags/tag1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427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47B739-58CF-A24E-997F-D77A7269B29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218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4271" y="6456218"/>
            <a:ext cx="4302231" cy="33988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1970AFB-7AED-6049-BFBF-E1DE4EB583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271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56328F3-DBA5-514D-BCD2-A752A55B1C8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271" y="6456219"/>
            <a:ext cx="4302231" cy="34145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D868098-1248-AF4B-9632-94315C0DC7A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868098-1248-AF4B-9632-94315C0DC7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868098-1248-AF4B-9632-94315C0DC7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3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6" y="3565525"/>
            <a:ext cx="10852151" cy="801370"/>
          </a:xfrm>
          <a:prstGeom prst="rect">
            <a:avLst/>
          </a:prstGeo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  <a:prstGeom prst="rect">
            <a:avLst/>
          </a:prstGeo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6" y="5605146"/>
            <a:ext cx="10852151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6" y="641351"/>
            <a:ext cx="10852151" cy="455612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1" y="565150"/>
            <a:ext cx="5400040" cy="57277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BC6474-6744-4657-9C3C-F50457957C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DB14F0-47FE-4937-9DB0-2B15A813C1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1"/>
          <p:cNvSpPr txBox="1">
            <a:spLocks noChangeArrowheads="1"/>
          </p:cNvSpPr>
          <p:nvPr userDrawn="1"/>
        </p:nvSpPr>
        <p:spPr bwMode="auto">
          <a:xfrm>
            <a:off x="3647728" y="2852936"/>
            <a:ext cx="6292849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1"/>
          <p:cNvSpPr txBox="1">
            <a:spLocks noChangeArrowheads="1"/>
          </p:cNvSpPr>
          <p:nvPr userDrawn="1"/>
        </p:nvSpPr>
        <p:spPr bwMode="auto">
          <a:xfrm>
            <a:off x="882652" y="276226"/>
            <a:ext cx="6292849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microsoft.com/office/2007/relationships/hdphoto" Target="../media/image2.wdp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711" y="14378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9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9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2001789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03714" y="5157096"/>
            <a:ext cx="37355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分享人：胡江龙</a:t>
            </a:r>
            <a:endParaRPr lang="en-US" altLang="zh-CN" sz="2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630" y="2061210"/>
            <a:ext cx="11926570" cy="29641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GQA: Training Generalized Multi-Query 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 Models from Multi-Head Checkpoints	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Reiner Pope, Sholto Douglas, Aakanksha Chowdhery,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Jacob Devlin, James Bradbury, Anselm Levskaya,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Jonathan Heek, Kefan Xiao, 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机构：</a:t>
            </a: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Research · Google DeepMind · Google Brain </a:t>
            </a: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endParaRPr lang="zh-CN" altLang="en-US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Shivani Agrawal, Jeff Dean </a:t>
            </a:r>
            <a:endParaRPr lang="en-US" altLang="zh-CN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66"/>
    </mc:Choice>
    <mc:Fallback>
      <p:transition advTm="20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&amp; Abstract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3"/>
          <p:cNvSpPr txBox="1"/>
          <p:nvPr/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4E334DFF-A8DE-B148-81B1-4F37B46AC470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zh-CN" altLang="en-US" dirty="0"/>
              <a:t>题目分析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论文题目为《</a:t>
            </a:r>
            <a:r>
              <a:rPr lang="en-US" altLang="zh-CN" dirty="0"/>
              <a:t>GQA: Training Generalized Multi-Query Transformer Models from Multi-Head Checkpoints</a:t>
            </a:r>
            <a:r>
              <a:rPr lang="zh-CN" altLang="en-US" dirty="0"/>
              <a:t>》，翻译成中文是《</a:t>
            </a:r>
            <a:r>
              <a:rPr lang="en-US" altLang="zh-CN" dirty="0"/>
              <a:t>GQA</a:t>
            </a:r>
            <a:r>
              <a:rPr lang="zh-CN" altLang="en-US" dirty="0"/>
              <a:t>：从多头检查点训练泛化多查询</a:t>
            </a:r>
            <a:r>
              <a:rPr lang="en-US" altLang="zh-CN" dirty="0"/>
              <a:t>Transformer</a:t>
            </a:r>
            <a:r>
              <a:rPr lang="zh-CN" altLang="en-US" dirty="0"/>
              <a:t>模型》。题目核心在于</a:t>
            </a:r>
            <a:r>
              <a:rPr lang="en-US" altLang="zh-CN" dirty="0"/>
              <a:t>“GQA”</a:t>
            </a:r>
            <a:r>
              <a:rPr lang="zh-CN" altLang="en-US" dirty="0"/>
              <a:t>（</a:t>
            </a:r>
            <a:r>
              <a:rPr lang="en-US" altLang="zh-CN" dirty="0"/>
              <a:t>Grouped-Query Attention</a:t>
            </a:r>
            <a:r>
              <a:rPr lang="zh-CN" altLang="en-US" dirty="0"/>
              <a:t>），这是一个新提出的注意力机制，强调从现有的多头注意力（</a:t>
            </a:r>
            <a:r>
              <a:rPr lang="en-US" altLang="zh-CN" dirty="0"/>
              <a:t>Multi-Head Attention, MHA</a:t>
            </a:r>
            <a:r>
              <a:rPr lang="zh-CN" altLang="en-US" dirty="0"/>
              <a:t>）检查点</a:t>
            </a:r>
            <a:r>
              <a:rPr lang="en-US" altLang="zh-CN" dirty="0"/>
              <a:t>“uptraining”</a:t>
            </a:r>
            <a:r>
              <a:rPr lang="zh-CN" altLang="en-US" dirty="0"/>
              <a:t>（升级训练）到泛化多查询模型。题目突出两个关键点：一是</a:t>
            </a:r>
            <a:r>
              <a:rPr lang="en-US" altLang="zh-CN" dirty="0"/>
              <a:t>“Generalized Multi-Query”</a:t>
            </a:r>
            <a:r>
              <a:rPr lang="zh-CN" altLang="en-US" dirty="0"/>
              <a:t>（泛化多查询），表示一种介于多头和多查询注意力之间的中间形式；二是</a:t>
            </a:r>
            <a:r>
              <a:rPr lang="en-US" altLang="zh-CN" dirty="0"/>
              <a:t>“from Multi-Head Checkpoints”</a:t>
            </a:r>
            <a:r>
              <a:rPr lang="zh-CN" altLang="en-US" dirty="0"/>
              <a:t>（从多头检查点出发），强调方法的经济性，即无需从零训练，而是基于现有模型进行少量额外训练来实现高效推理。整体上，题目反映了论文在</a:t>
            </a:r>
            <a:r>
              <a:rPr lang="en-US" altLang="zh-CN" dirty="0"/>
              <a:t>Transformer</a:t>
            </a:r>
            <a:r>
              <a:rPr lang="zh-CN" altLang="en-US" dirty="0"/>
              <a:t>模型推理加速和质量平衡上的创新，针对大语言模型（</a:t>
            </a:r>
            <a:r>
              <a:rPr lang="en-US" altLang="zh-CN" dirty="0"/>
              <a:t>LLM</a:t>
            </a:r>
            <a:r>
              <a:rPr lang="zh-CN" altLang="en-US" dirty="0"/>
              <a:t>）推理瓶颈问题。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&amp; Abstract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3"/>
          <p:cNvSpPr txBox="1"/>
          <p:nvPr/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4E334DFF-A8DE-B148-81B1-4F37B46AC470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内容分析：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论文主要介绍了一种从多头注意力（</a:t>
            </a:r>
            <a:r>
              <a:rPr lang="en-US" altLang="zh-CN" dirty="0"/>
              <a:t>MHA</a:t>
            </a:r>
            <a:r>
              <a:rPr lang="zh-CN" altLang="en-US" dirty="0"/>
              <a:t>）检查点升级训练（</a:t>
            </a:r>
            <a:r>
              <a:rPr lang="en-US" altLang="zh-CN" dirty="0"/>
              <a:t>uptraining</a:t>
            </a:r>
            <a:r>
              <a:rPr lang="zh-CN" altLang="en-US" dirty="0"/>
              <a:t>）到多查询注意力（</a:t>
            </a:r>
            <a:r>
              <a:rPr lang="en-US" altLang="zh-CN" dirty="0"/>
              <a:t>MQA</a:t>
            </a:r>
            <a:r>
              <a:rPr lang="zh-CN" altLang="en-US" dirty="0"/>
              <a:t>）或分组查询注意力（</a:t>
            </a:r>
            <a:r>
              <a:rPr lang="en-US" altLang="zh-CN" dirty="0"/>
              <a:t>GQA</a:t>
            </a:r>
            <a:r>
              <a:rPr lang="zh-CN" altLang="en-US" dirty="0"/>
              <a:t>）的技术，以实现</a:t>
            </a:r>
            <a:r>
              <a:rPr lang="en-US" altLang="zh-CN" dirty="0"/>
              <a:t>Transformer</a:t>
            </a:r>
            <a:r>
              <a:rPr lang="zh-CN" altLang="en-US" dirty="0"/>
              <a:t>模型在解码器推理上的加速，同时保持高质量。作者提出两种贡献：（</a:t>
            </a:r>
            <a:r>
              <a:rPr lang="en-US" altLang="zh-CN" dirty="0"/>
              <a:t>1</a:t>
            </a:r>
            <a:r>
              <a:rPr lang="zh-CN" altLang="en-US" dirty="0"/>
              <a:t>）使用原预训练计算量的</a:t>
            </a:r>
            <a:r>
              <a:rPr lang="en-US" altLang="zh-CN" dirty="0"/>
              <a:t>5%</a:t>
            </a:r>
            <a:r>
              <a:rPr lang="zh-CN" altLang="en-US" dirty="0"/>
              <a:t>将</a:t>
            </a:r>
            <a:r>
              <a:rPr lang="en-US" altLang="zh-CN" dirty="0"/>
              <a:t>MHA</a:t>
            </a:r>
            <a:r>
              <a:rPr lang="zh-CN" altLang="en-US" dirty="0"/>
              <a:t>检查点转换为</a:t>
            </a:r>
            <a:r>
              <a:rPr lang="en-US" altLang="zh-CN" dirty="0"/>
              <a:t>MQA</a:t>
            </a:r>
            <a:r>
              <a:rPr lang="zh-CN" altLang="en-US" dirty="0"/>
              <a:t>模型；（</a:t>
            </a:r>
            <a:r>
              <a:rPr lang="en-US" altLang="zh-CN" dirty="0"/>
              <a:t>2</a:t>
            </a:r>
            <a:r>
              <a:rPr lang="zh-CN" altLang="en-US" dirty="0"/>
              <a:t>）引入</a:t>
            </a:r>
            <a:r>
              <a:rPr lang="en-US" altLang="zh-CN" dirty="0"/>
              <a:t>GQA</a:t>
            </a:r>
            <a:r>
              <a:rPr lang="zh-CN" altLang="en-US" dirty="0"/>
              <a:t>机制，作为</a:t>
            </a:r>
            <a:r>
              <a:rPr lang="en-US" altLang="zh-CN" dirty="0"/>
              <a:t>MHA</a:t>
            </a:r>
            <a:r>
              <a:rPr lang="zh-CN" altLang="en-US" dirty="0"/>
              <a:t>和</a:t>
            </a:r>
            <a:r>
              <a:rPr lang="en-US" altLang="zh-CN" dirty="0"/>
              <a:t>MQA</a:t>
            </a:r>
            <a:r>
              <a:rPr lang="zh-CN" altLang="en-US" dirty="0"/>
              <a:t>的中间形式，使用分组的键值头来平衡速度和质量。论文通过实验验证了</a:t>
            </a:r>
            <a:r>
              <a:rPr lang="en-US" altLang="zh-CN" dirty="0"/>
              <a:t>uptrained GQA</a:t>
            </a:r>
            <a:r>
              <a:rPr lang="zh-CN" altLang="en-US" dirty="0"/>
              <a:t>在多个任务（如摘要、翻译、问答）上的表现，接近</a:t>
            </a:r>
            <a:r>
              <a:rPr lang="en-US" altLang="zh-CN" dirty="0"/>
              <a:t>MHA</a:t>
            </a:r>
            <a:r>
              <a:rPr lang="zh-CN" altLang="en-US" dirty="0"/>
              <a:t>质量但速度接近</a:t>
            </a:r>
            <a:r>
              <a:rPr lang="en-US" altLang="zh-CN" dirty="0"/>
              <a:t>MQA</a:t>
            </a:r>
            <a:r>
              <a:rPr lang="zh-CN" altLang="en-US" dirty="0"/>
              <a:t>。内容包括方法描述、实验设置、结果分析和相关工作讨论。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背景：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Transformer</a:t>
            </a:r>
            <a:r>
              <a:rPr lang="zh-CN" altLang="en-US" dirty="0">
                <a:sym typeface="+mn-ea"/>
              </a:rPr>
              <a:t>模型在自回归解码器推理中存在严重瓶颈，主要由于内存带宽开销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每次解码步骤都需要加载解码器权重以及所有注意力键（</a:t>
            </a:r>
            <a:r>
              <a:rPr lang="en-US" altLang="zh-CN" dirty="0">
                <a:sym typeface="+mn-ea"/>
              </a:rPr>
              <a:t>keys</a:t>
            </a:r>
            <a:r>
              <a:rPr lang="zh-CN" altLang="en-US" dirty="0">
                <a:sym typeface="+mn-ea"/>
              </a:rPr>
              <a:t>）和值（</a:t>
            </a:r>
            <a:r>
              <a:rPr lang="en-US" altLang="zh-CN" dirty="0">
                <a:sym typeface="+mn-ea"/>
              </a:rPr>
              <a:t>values</a:t>
            </a:r>
            <a:r>
              <a:rPr lang="zh-CN" altLang="en-US" dirty="0">
                <a:sym typeface="+mn-ea"/>
              </a:rPr>
              <a:t>）。这在长序列生成中尤为突出，导致推理速度慢。现有模型如</a:t>
            </a:r>
            <a:r>
              <a:rPr lang="en-US" altLang="zh-CN" dirty="0">
                <a:sym typeface="+mn-ea"/>
              </a:rPr>
              <a:t>PaLM</a:t>
            </a:r>
            <a:r>
              <a:rPr lang="zh-CN" altLang="en-US" dirty="0">
                <a:sym typeface="+mn-ea"/>
              </a:rPr>
              <a:t>使用多查询注意力（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）来减少键值头，从而降低内存开销，但许多模型（如</a:t>
            </a:r>
            <a:r>
              <a:rPr lang="en-US" altLang="zh-CN" dirty="0">
                <a:sym typeface="+mn-ea"/>
              </a:rPr>
              <a:t>T5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LLaMA</a:t>
            </a:r>
            <a:r>
              <a:rPr lang="zh-CN" altLang="en-US" dirty="0">
                <a:sym typeface="+mn-ea"/>
              </a:rPr>
              <a:t>）仍使用多头注意力（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），且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可能导致质量下降和训练不稳定。</a:t>
            </a:r>
            <a:endParaRPr lang="en-US" altLang="zh-CN" dirty="0"/>
          </a:p>
          <a:p>
            <a:r>
              <a:rPr lang="zh-CN" altLang="en-US" dirty="0"/>
              <a:t>问题：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如何在不牺牲质量的情况下加速推理？尤其是对于已训练好的</a:t>
            </a:r>
            <a:r>
              <a:rPr lang="en-US" altLang="zh-CN" dirty="0"/>
              <a:t>MHA</a:t>
            </a:r>
            <a:r>
              <a:rPr lang="zh-CN" altLang="en-US" dirty="0"/>
              <a:t>模型，如何经济地转换为高效推理形式，而无需从零训练新模型？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105851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: Background &amp; Problems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9425" y="1341121"/>
            <a:ext cx="10972800" cy="4525963"/>
          </a:xfrm>
        </p:spPr>
        <p:txBody>
          <a:bodyPr>
            <a:normAutofit fontScale="50000"/>
          </a:bodyPr>
          <a:lstStyle/>
          <a:p>
            <a:r>
              <a:rPr lang="zh-CN" altLang="en-US" dirty="0"/>
              <a:t>现有的解决方法：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现有方法主要通过减少内存带宽开销来加速推理：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多查询注意力（</a:t>
            </a:r>
            <a:r>
              <a:rPr lang="en-US" altLang="zh-CN" dirty="0"/>
              <a:t>MQA, Shazeer, 2019</a:t>
            </a:r>
            <a:r>
              <a:rPr lang="zh-CN" altLang="en-US" dirty="0"/>
              <a:t>）：使用多个查询头但单一键值头，减少键值缓存大小，显著加速解码（例如</a:t>
            </a:r>
            <a:r>
              <a:rPr lang="en-US" altLang="zh-CN" dirty="0"/>
              <a:t>PaLM</a:t>
            </a:r>
            <a:r>
              <a:rPr lang="zh-CN" altLang="en-US" dirty="0"/>
              <a:t>模型）。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Flash Attention</a:t>
            </a:r>
            <a:r>
              <a:rPr lang="zh-CN" altLang="en-US" dirty="0"/>
              <a:t>（</a:t>
            </a:r>
            <a:r>
              <a:rPr lang="en-US" altLang="zh-CN" dirty="0"/>
              <a:t>Dao et al., 2022</a:t>
            </a:r>
            <a:r>
              <a:rPr lang="zh-CN" altLang="en-US" dirty="0"/>
              <a:t>）：重构注意力计算，避免物化二次方注意力分数，减少内存使用并加速训练</a:t>
            </a:r>
            <a:r>
              <a:rPr lang="en-US" altLang="zh-CN" dirty="0"/>
              <a:t>/</a:t>
            </a:r>
            <a:r>
              <a:rPr lang="zh-CN" altLang="en-US" dirty="0"/>
              <a:t>推理。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量化（</a:t>
            </a:r>
            <a:r>
              <a:rPr lang="en-US" altLang="zh-CN" dirty="0"/>
              <a:t>Quantization, Dettmers et al., 2022; Frantar et al., 2022</a:t>
            </a:r>
            <a:r>
              <a:rPr lang="zh-CN" altLang="en-US" dirty="0"/>
              <a:t>）：降低权重和激活的精度（如</a:t>
            </a:r>
            <a:r>
              <a:rPr lang="en-US" altLang="zh-CN" dirty="0"/>
              <a:t>8-bit</a:t>
            </a:r>
            <a:r>
              <a:rPr lang="zh-CN" altLang="en-US" dirty="0"/>
              <a:t>），缩小键值大小。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模型蒸馏（</a:t>
            </a:r>
            <a:r>
              <a:rPr lang="en-US" altLang="zh-CN" dirty="0"/>
              <a:t>Distillation, Hinton et al., 2015</a:t>
            </a:r>
            <a:r>
              <a:rPr lang="zh-CN" altLang="en-US" dirty="0"/>
              <a:t>）：用大模型生成数据训练小模型，减少整体参数。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层稀疏交叉注意力（</a:t>
            </a:r>
            <a:r>
              <a:rPr lang="en-US" altLang="zh-CN" dirty="0"/>
              <a:t>Layer-sparse cross-attention, de Jong et al., 2022</a:t>
            </a:r>
            <a:r>
              <a:rPr lang="zh-CN" altLang="en-US" dirty="0"/>
              <a:t>）：去除大部分交叉注意力层，针对长输入优化。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推测采样（</a:t>
            </a:r>
            <a:r>
              <a:rPr lang="en-US" altLang="zh-CN" dirty="0"/>
              <a:t>Speculative Sampling, Chen et al., 2023</a:t>
            </a:r>
            <a:r>
              <a:rPr lang="zh-CN" altLang="en-US" dirty="0"/>
              <a:t>）：用小模型提出多个</a:t>
            </a:r>
            <a:r>
              <a:rPr lang="en-US" altLang="zh-CN" dirty="0"/>
              <a:t>token</a:t>
            </a:r>
            <a:r>
              <a:rPr lang="zh-CN" altLang="en-US" dirty="0"/>
              <a:t>，大模型并行评分，缓解带宽瓶颈。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这些方法从硬件优化、结构修改或采样策略角度解决推理瓶颈，但多针对从零训练特定模型。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: Challenges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zh-CN" altLang="en-US" dirty="0">
                <a:sym typeface="+mn-ea"/>
              </a:rPr>
              <a:t>现有方法解决不了的本文提出需要解决的问题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现有方法（如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）虽加速推理，但存在质量下降、训练不稳定，且不适用于已有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检查点（如</a:t>
            </a:r>
            <a:r>
              <a:rPr lang="en-US" altLang="zh-CN" dirty="0">
                <a:sym typeface="+mn-ea"/>
              </a:rPr>
              <a:t>T5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LLaMA</a:t>
            </a:r>
            <a:r>
              <a:rPr lang="zh-CN" altLang="en-US" dirty="0">
                <a:sym typeface="+mn-ea"/>
              </a:rPr>
              <a:t>），需从零训练新模型，计算成本高。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本文提出需要解决的问题：（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）如何从现有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检查点以低成本（仅</a:t>
            </a:r>
            <a:r>
              <a:rPr lang="en-US" altLang="zh-CN" dirty="0">
                <a:sym typeface="+mn-ea"/>
              </a:rPr>
              <a:t>5%</a:t>
            </a:r>
            <a:r>
              <a:rPr lang="zh-CN" altLang="en-US" dirty="0">
                <a:sym typeface="+mn-ea"/>
              </a:rPr>
              <a:t>原预训练计算）转换为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模型，同时恢复质量？（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）如何缓解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的质量损失，使其接近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，同时保持速度优势？（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）针对更大模型，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的键值头减少过于激进，导致容量不足，如何在带宽和容量间找到更好权衡？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解决这些问题的挑战是什么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检查点转换挑战：从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到</a:t>
            </a:r>
            <a:r>
              <a:rPr lang="en-US" altLang="zh-CN" dirty="0">
                <a:sym typeface="+mn-ea"/>
              </a:rPr>
              <a:t>MQA/GQA</a:t>
            </a:r>
            <a:r>
              <a:rPr lang="zh-CN" altLang="en-US" dirty="0">
                <a:sym typeface="+mn-ea"/>
              </a:rPr>
              <a:t>时，如何保留原模型信息，避免随机初始化导致质量大幅下降？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质量恢复挑战：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减少键值头后模型容量降低，导致不稳定和性能退化；</a:t>
            </a:r>
            <a:r>
              <a:rPr lang="en-US" altLang="zh-CN" dirty="0">
                <a:sym typeface="+mn-ea"/>
              </a:rPr>
              <a:t>uptraining</a:t>
            </a:r>
            <a:r>
              <a:rPr lang="zh-CN" altLang="en-US" dirty="0">
                <a:sym typeface="+mn-ea"/>
              </a:rPr>
              <a:t>需少量计算，但需有效适应新结构。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速度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质量权衡挑战：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速度快但质量低，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质量高但慢；更大模型下，键值开销相对小，但头数增加使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削减更激进。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训练稳定性挑战：</a:t>
            </a:r>
            <a:r>
              <a:rPr lang="en-US" altLang="zh-CN" dirty="0">
                <a:sym typeface="+mn-ea"/>
              </a:rPr>
              <a:t>MQA</a:t>
            </a:r>
            <a:r>
              <a:rPr lang="zh-CN" altLang="en-US" dirty="0">
                <a:sym typeface="+mn-ea"/>
              </a:rPr>
              <a:t>在长输入细调时易发损失峰值和发散。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适用性挑战：方法需适用于编码器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解码器模型，且不影响编码器自注意力（非带宽瓶颈）。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: Challenges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2996952"/>
            <a:ext cx="10972800" cy="3129212"/>
          </a:xfrm>
        </p:spPr>
        <p:txBody>
          <a:bodyPr>
            <a:normAutofit fontScale="60000"/>
          </a:bodyPr>
          <a:lstStyle/>
          <a:p>
            <a:r>
              <a:rPr lang="zh-CN" altLang="en-US" dirty="0"/>
              <a:t>为了解决上一页中的问题，针对不同的挑战，论文分别做了一下技术上的设计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针对检查点转换挑战：设计均值池化（</a:t>
            </a:r>
            <a:r>
              <a:rPr lang="en-US" altLang="zh-CN" dirty="0"/>
              <a:t>mean pooling</a:t>
            </a:r>
            <a:r>
              <a:rPr lang="zh-CN" altLang="en-US" dirty="0"/>
              <a:t>）键值投影矩阵，将多头转换为单一</a:t>
            </a:r>
            <a:r>
              <a:rPr lang="en-US" altLang="zh-CN" dirty="0"/>
              <a:t>/</a:t>
            </a:r>
            <a:r>
              <a:rPr lang="zh-CN" altLang="en-US" dirty="0"/>
              <a:t>分组头，保留信息优于随机初始化或选单头。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针对质量恢复挑战：引入</a:t>
            </a:r>
            <a:r>
              <a:rPr lang="en-US" altLang="zh-CN" dirty="0"/>
              <a:t>uptraining</a:t>
            </a:r>
            <a:r>
              <a:rPr lang="zh-CN" altLang="en-US" dirty="0"/>
              <a:t>，使用原预训练配方的</a:t>
            </a:r>
            <a:r>
              <a:rPr lang="en-US" altLang="zh-CN" dirty="0"/>
              <a:t>α</a:t>
            </a:r>
            <a:r>
              <a:rPr lang="zh-CN" altLang="en-US" dirty="0"/>
              <a:t>比例（</a:t>
            </a:r>
            <a:r>
              <a:rPr lang="en-US" altLang="zh-CN" dirty="0"/>
              <a:t>5%</a:t>
            </a:r>
            <a:r>
              <a:rPr lang="zh-CN" altLang="en-US" dirty="0"/>
              <a:t>）步骤继续预训练，允许模型适应新结构。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针对速度</a:t>
            </a:r>
            <a:r>
              <a:rPr lang="en-US" altLang="zh-CN" dirty="0"/>
              <a:t>-</a:t>
            </a:r>
            <a:r>
              <a:rPr lang="zh-CN" altLang="en-US" dirty="0"/>
              <a:t>质量权衡挑战：提出</a:t>
            </a:r>
            <a:r>
              <a:rPr lang="en-US" altLang="zh-CN" dirty="0"/>
              <a:t>GQA</a:t>
            </a:r>
            <a:r>
              <a:rPr lang="zh-CN" altLang="en-US" dirty="0"/>
              <a:t>，将查询头分为</a:t>
            </a:r>
            <a:r>
              <a:rPr lang="en-US" altLang="zh-CN" dirty="0"/>
              <a:t>G</a:t>
            </a:r>
            <a:r>
              <a:rPr lang="zh-CN" altLang="en-US" dirty="0"/>
              <a:t>组，每组共享单一键值头（</a:t>
            </a:r>
            <a:r>
              <a:rPr lang="en-US" altLang="zh-CN" dirty="0"/>
              <a:t>GQA-1=MQA, GQA-H=MHA</a:t>
            </a:r>
            <a:r>
              <a:rPr lang="zh-CN" altLang="en-US" dirty="0"/>
              <a:t>），在组数上插值，实现中间权衡。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针对训练稳定性挑战：</a:t>
            </a:r>
            <a:r>
              <a:rPr lang="en-US" altLang="zh-CN" dirty="0"/>
              <a:t>GQA</a:t>
            </a:r>
            <a:r>
              <a:rPr lang="zh-CN" altLang="en-US" dirty="0"/>
              <a:t>比</a:t>
            </a:r>
            <a:r>
              <a:rPr lang="en-US" altLang="zh-CN" dirty="0"/>
              <a:t>MQA</a:t>
            </a:r>
            <a:r>
              <a:rPr lang="zh-CN" altLang="en-US" dirty="0"/>
              <a:t>更稳定（实验显示</a:t>
            </a:r>
            <a:r>
              <a:rPr lang="en-US" altLang="zh-CN" dirty="0"/>
              <a:t>MQA</a:t>
            </a:r>
            <a:r>
              <a:rPr lang="zh-CN" altLang="en-US" dirty="0"/>
              <a:t>需多跑平均，</a:t>
            </a:r>
            <a:r>
              <a:rPr lang="en-US" altLang="zh-CN" dirty="0"/>
              <a:t>GQA</a:t>
            </a:r>
            <a:r>
              <a:rPr lang="zh-CN" altLang="en-US" dirty="0"/>
              <a:t>无此需）；</a:t>
            </a:r>
            <a:r>
              <a:rPr lang="en-US" altLang="zh-CN" dirty="0"/>
              <a:t>uptraining</a:t>
            </a:r>
            <a:r>
              <a:rPr lang="zh-CN" altLang="en-US" dirty="0"/>
              <a:t>从稳定</a:t>
            </a:r>
            <a:r>
              <a:rPr lang="en-US" altLang="zh-CN" dirty="0"/>
              <a:t>MHA</a:t>
            </a:r>
            <a:r>
              <a:rPr lang="zh-CN" altLang="en-US" dirty="0"/>
              <a:t>起点开始。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针对适用性挑战：仅应用于解码器自</a:t>
            </a:r>
            <a:r>
              <a:rPr lang="en-US" altLang="zh-CN" dirty="0"/>
              <a:t>/</a:t>
            </a:r>
            <a:r>
              <a:rPr lang="zh-CN" altLang="en-US" dirty="0"/>
              <a:t>交叉注意力，不改编码器；基于</a:t>
            </a:r>
            <a:r>
              <a:rPr lang="en-US" altLang="zh-CN" dirty="0"/>
              <a:t>T5</a:t>
            </a:r>
            <a:r>
              <a:rPr lang="zh-CN" altLang="en-US" dirty="0"/>
              <a:t>架构，确保兼容性。</a:t>
            </a:r>
            <a:endParaRPr lang="en-US" altLang="zh-CN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&amp; Architecture : Solutions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9936" y="23597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技术方案图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55" y="1125220"/>
            <a:ext cx="3581400" cy="1295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335" y="1196975"/>
            <a:ext cx="21717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2996952"/>
            <a:ext cx="10972800" cy="312921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关键技术有哪些？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检查点转换：均值池化键值头（结合图</a:t>
            </a:r>
            <a:r>
              <a:rPr lang="en-US" altLang="zh-CN" dirty="0"/>
              <a:t>1</a:t>
            </a:r>
            <a:r>
              <a:rPr lang="zh-CN" altLang="en-US" dirty="0"/>
              <a:t>），保留预训练知识。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：少量（</a:t>
            </a:r>
            <a:r>
              <a:rPr lang="en-US" altLang="zh-CN" dirty="0"/>
              <a:t>α=0.05</a:t>
            </a:r>
            <a:r>
              <a:rPr lang="zh-CN" altLang="en-US" dirty="0"/>
              <a:t>）预训练步骤，结合原数据集和超参数。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分组查询注意力（</a:t>
            </a:r>
            <a:r>
              <a:rPr lang="en-US" altLang="zh-CN" dirty="0"/>
              <a:t>GQA</a:t>
            </a:r>
            <a:r>
              <a:rPr lang="zh-CN" altLang="en-US" dirty="0"/>
              <a:t>）：查询头分组，每组共享键值头（结合图</a:t>
            </a:r>
            <a:r>
              <a:rPr lang="en-US" altLang="zh-CN" dirty="0"/>
              <a:t>2</a:t>
            </a:r>
            <a:r>
              <a:rPr lang="zh-CN" altLang="en-US" dirty="0"/>
              <a:t>），泛化</a:t>
            </a:r>
            <a:r>
              <a:rPr lang="en-US" altLang="zh-CN" dirty="0"/>
              <a:t>MQA/MHA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这些技术结合使用：先转换检查点，再</a:t>
            </a:r>
            <a:r>
              <a:rPr lang="en-US" altLang="zh-CN" dirty="0"/>
              <a:t>uptraining</a:t>
            </a:r>
            <a:r>
              <a:rPr lang="zh-CN" altLang="en-US" dirty="0"/>
              <a:t>适应</a:t>
            </a:r>
            <a:r>
              <a:rPr lang="en-US" altLang="zh-CN" dirty="0"/>
              <a:t>GQA</a:t>
            </a:r>
            <a:r>
              <a:rPr lang="zh-CN" altLang="en-US" dirty="0"/>
              <a:t>，实现低成本高效模型。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&amp; Architecture : Solutions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9936" y="23597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技术方案图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990" y="1196975"/>
            <a:ext cx="3581400" cy="1295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40" y="1196975"/>
            <a:ext cx="21717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本文所研究问题的数学</a:t>
            </a:r>
            <a:r>
              <a:rPr lang="en-US" altLang="zh-CN" dirty="0"/>
              <a:t>formulation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本文所研究问题的数学</a:t>
            </a:r>
            <a:r>
              <a:rPr lang="en-US" altLang="zh-CN" dirty="0"/>
              <a:t>formulation </a:t>
            </a:r>
            <a:endParaRPr lang="en-US" altLang="zh-CN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052830"/>
            <a:ext cx="9686925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1628776"/>
            <a:ext cx="10972800" cy="4525963"/>
          </a:xfrm>
        </p:spPr>
        <p:txBody>
          <a:bodyPr/>
          <a:lstStyle/>
          <a:p>
            <a:r>
              <a:rPr lang="zh-CN" altLang="en-US" dirty="0"/>
              <a:t>本文所研究问题的数学</a:t>
            </a:r>
            <a:r>
              <a:rPr lang="en-US" altLang="zh-CN" dirty="0"/>
              <a:t>formulation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125220"/>
            <a:ext cx="10477500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介绍前置的定理</a:t>
            </a:r>
            <a:r>
              <a:rPr lang="en-US" altLang="zh-CN" dirty="0"/>
              <a:t>/</a:t>
            </a:r>
            <a:r>
              <a:rPr lang="zh-CN" altLang="en-US" dirty="0"/>
              <a:t>算法</a:t>
            </a:r>
            <a:r>
              <a:rPr lang="en-US" altLang="zh-CN" dirty="0"/>
              <a:t>/</a:t>
            </a:r>
            <a:r>
              <a:rPr lang="zh-CN" altLang="en-US" dirty="0"/>
              <a:t>模型等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前置模型：</a:t>
            </a:r>
            <a:r>
              <a:rPr lang="en-US" altLang="zh-CN" dirty="0"/>
              <a:t>Transformer</a:t>
            </a:r>
            <a:r>
              <a:rPr lang="zh-CN" altLang="en-US" dirty="0"/>
              <a:t>（</a:t>
            </a:r>
            <a:r>
              <a:rPr lang="en-US" altLang="zh-CN" dirty="0"/>
              <a:t>Vaswani et al., 2017</a:t>
            </a:r>
            <a:r>
              <a:rPr lang="zh-CN" altLang="en-US" dirty="0"/>
              <a:t>），核心是多头注意力（</a:t>
            </a:r>
            <a:r>
              <a:rPr lang="en-US" altLang="zh-CN" dirty="0"/>
              <a:t>MHA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算法：多查询注意力（</a:t>
            </a:r>
            <a:r>
              <a:rPr lang="en-US" altLang="zh-CN" dirty="0"/>
              <a:t>MQA, Shazeer, 2019</a:t>
            </a:r>
            <a:r>
              <a:rPr lang="zh-CN" altLang="en-US" dirty="0"/>
              <a:t>），单一键值头共享所有查询头。</a:t>
            </a:r>
            <a:r>
              <a:rPr lang="en-US" altLang="zh-CN" dirty="0"/>
              <a:t>Uptraining</a:t>
            </a:r>
            <a:r>
              <a:rPr lang="zh-CN" altLang="en-US" dirty="0"/>
              <a:t>灵感来自</a:t>
            </a:r>
            <a:r>
              <a:rPr lang="en-US" altLang="zh-CN" dirty="0"/>
              <a:t>Komatsuzaki et al. (2022)</a:t>
            </a:r>
            <a:r>
              <a:rPr lang="zh-CN" altLang="en-US" dirty="0"/>
              <a:t>，从稠密检查点升级到稀疏专家混合模型。相关：</a:t>
            </a:r>
            <a:r>
              <a:rPr lang="en-US" altLang="zh-CN" dirty="0"/>
              <a:t>Flash Attention</a:t>
            </a:r>
            <a:r>
              <a:rPr lang="zh-CN" altLang="en-US" dirty="0"/>
              <a:t>优化</a:t>
            </a:r>
            <a:r>
              <a:rPr lang="en-US" altLang="zh-CN" dirty="0"/>
              <a:t>IO</a:t>
            </a:r>
            <a:r>
              <a:rPr lang="zh-CN" altLang="en-US" dirty="0"/>
              <a:t>感知注意力计算；量化减少精度。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基线模型：</a:t>
            </a:r>
            <a:r>
              <a:rPr lang="en-US" altLang="zh-CN" dirty="0"/>
              <a:t>T5.1.1</a:t>
            </a:r>
            <a:r>
              <a:rPr lang="zh-CN" altLang="en-US" dirty="0"/>
              <a:t>（</a:t>
            </a:r>
            <a:r>
              <a:rPr lang="en-US" altLang="zh-CN" dirty="0"/>
              <a:t>Raffel et al., 2020</a:t>
            </a:r>
            <a:r>
              <a:rPr lang="zh-CN" altLang="en-US" dirty="0"/>
              <a:t>），编码器</a:t>
            </a:r>
            <a:r>
              <a:rPr lang="en-US" altLang="zh-CN" dirty="0"/>
              <a:t>-</a:t>
            </a:r>
            <a:r>
              <a:rPr lang="zh-CN" altLang="en-US" dirty="0"/>
              <a:t>解码器架构。</a:t>
            </a:r>
            <a:endParaRPr lang="zh-CN" altLang="en-US" dirty="0"/>
          </a:p>
          <a:p>
            <a:r>
              <a:rPr lang="zh-CN" altLang="en-US" dirty="0"/>
              <a:t>本文所提出的方法的数学逻辑</a:t>
            </a:r>
            <a:endParaRPr 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本文所提出的方法的数学逻辑</a:t>
            </a:r>
            <a:endParaRPr 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本文所提出的方法的数学逻辑</a:t>
            </a:r>
            <a:endParaRPr lang="zh-CN" alt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621030"/>
            <a:ext cx="8477250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本文所提出的方法的数学逻辑</a:t>
            </a:r>
            <a:endParaRPr lang="zh-CN" alt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9793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Preliminaries &amp; Methodology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2348865"/>
            <a:ext cx="8277225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r>
              <a:rPr lang="zh-CN" altLang="en-US" dirty="0"/>
              <a:t>数据集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摘要任务：包括</a:t>
            </a:r>
            <a:r>
              <a:rPr lang="en-US" altLang="zh-CN" dirty="0"/>
              <a:t>CNN/Daily Mail</a:t>
            </a:r>
            <a:r>
              <a:rPr lang="zh-CN" altLang="en-US" dirty="0"/>
              <a:t>（短文本摘要）、</a:t>
            </a:r>
            <a:r>
              <a:rPr lang="en-US" altLang="zh-CN" dirty="0"/>
              <a:t>arXiv</a:t>
            </a:r>
            <a:r>
              <a:rPr lang="zh-CN" altLang="en-US" dirty="0"/>
              <a:t>、</a:t>
            </a:r>
            <a:r>
              <a:rPr lang="en-US" altLang="zh-CN" dirty="0"/>
              <a:t>PubMed</a:t>
            </a:r>
            <a:r>
              <a:rPr lang="zh-CN" altLang="en-US" dirty="0"/>
              <a:t>（学术文献摘要）、</a:t>
            </a:r>
            <a:r>
              <a:rPr lang="en-US" altLang="zh-CN" dirty="0"/>
              <a:t>MediaSum</a:t>
            </a:r>
            <a:r>
              <a:rPr lang="zh-CN" altLang="en-US" dirty="0"/>
              <a:t>（媒体采访摘要）、</a:t>
            </a:r>
            <a:r>
              <a:rPr lang="en-US" altLang="zh-CN" dirty="0"/>
              <a:t>Multi-News</a:t>
            </a:r>
            <a:r>
              <a:rPr lang="zh-CN" altLang="en-US" dirty="0"/>
              <a:t>（多文档摘要）。这些数据集涵盖了不同类型和长度的文本摘要任务，广泛用于评估</a:t>
            </a:r>
            <a:r>
              <a:rPr lang="en-US" altLang="zh-CN" dirty="0"/>
              <a:t>Transformer</a:t>
            </a:r>
            <a:r>
              <a:rPr lang="zh-CN" altLang="en-US" dirty="0"/>
              <a:t>模型的生成能力。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翻译任务：</a:t>
            </a:r>
            <a:r>
              <a:rPr lang="en-US" altLang="zh-CN" dirty="0"/>
              <a:t>WMT 2014 English-to-German</a:t>
            </a:r>
            <a:r>
              <a:rPr lang="zh-CN" altLang="en-US" dirty="0"/>
              <a:t>（英语到德语翻译），是一个经典的机器翻译评测数据集。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问答任务：</a:t>
            </a:r>
            <a:r>
              <a:rPr lang="en-US" altLang="zh-CN" dirty="0"/>
              <a:t>TriviaQA</a:t>
            </a:r>
            <a:r>
              <a:rPr lang="zh-CN" altLang="en-US" dirty="0"/>
              <a:t>，提供问题</a:t>
            </a:r>
            <a:r>
              <a:rPr lang="en-US" altLang="zh-CN" dirty="0"/>
              <a:t>-</a:t>
            </a:r>
            <a:r>
              <a:rPr lang="zh-CN" altLang="en-US" dirty="0"/>
              <a:t>答案对，测试模型的理解和生成能力。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不评估</a:t>
            </a:r>
            <a:r>
              <a:rPr lang="en-US" altLang="zh-CN" dirty="0"/>
              <a:t>GLUE</a:t>
            </a:r>
            <a:r>
              <a:rPr lang="zh-CN" altLang="en-US" dirty="0"/>
              <a:t>：</a:t>
            </a:r>
            <a:r>
              <a:rPr lang="en-US" altLang="zh-CN" dirty="0"/>
              <a:t>GLUE</a:t>
            </a:r>
            <a:r>
              <a:rPr lang="zh-CN" altLang="en-US" dirty="0"/>
              <a:t>是一个自然语言理解基准，但因其任务多为分类而非自回归生成（本文关注的解码器推理），因此未纳入评测。</a:t>
            </a:r>
            <a:endParaRPr lang="zh-CN" altLang="en-US" dirty="0"/>
          </a:p>
          <a:p>
            <a:r>
              <a:rPr lang="en-US" altLang="zh-CN" dirty="0"/>
              <a:t>SOTA </a:t>
            </a:r>
            <a:r>
              <a:rPr lang="zh-CN" altLang="en-US" dirty="0"/>
              <a:t>（当时最先进技术）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基线模型</a:t>
            </a:r>
            <a:r>
              <a:rPr lang="en-US" altLang="zh-CN" dirty="0">
                <a:sym typeface="+mn-ea"/>
              </a:rPr>
              <a:t>T5-XXL</a:t>
            </a:r>
            <a:r>
              <a:rPr lang="zh-CN" altLang="en-US" dirty="0">
                <a:sym typeface="+mn-ea"/>
              </a:rPr>
              <a:t>使用多头注意力（</a:t>
            </a:r>
            <a:r>
              <a:rPr lang="en-US" altLang="zh-CN" dirty="0">
                <a:sym typeface="+mn-ea"/>
              </a:rPr>
              <a:t>MHA</a:t>
            </a:r>
            <a:r>
              <a:rPr lang="zh-CN" altLang="en-US" dirty="0">
                <a:sym typeface="+mn-ea"/>
              </a:rPr>
              <a:t>）在上述数据集上达到了</a:t>
            </a:r>
            <a:r>
              <a:rPr lang="en-US" altLang="zh-CN" dirty="0">
                <a:sym typeface="+mn-ea"/>
              </a:rPr>
              <a:t>SOTA</a:t>
            </a:r>
            <a:r>
              <a:rPr lang="zh-CN" altLang="en-US" dirty="0">
                <a:sym typeface="+mn-ea"/>
              </a:rPr>
              <a:t>水平，代表了当时最优性能。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本文通过</a:t>
            </a:r>
            <a:r>
              <a:rPr lang="en-US" altLang="zh-CN" dirty="0">
                <a:sym typeface="+mn-ea"/>
              </a:rPr>
              <a:t>uptraining</a:t>
            </a:r>
            <a:r>
              <a:rPr lang="zh-CN" altLang="en-US" dirty="0">
                <a:sym typeface="+mn-ea"/>
              </a:rPr>
              <a:t>（基于</a:t>
            </a:r>
            <a:r>
              <a:rPr lang="en-US" altLang="zh-CN" dirty="0">
                <a:sym typeface="+mn-ea"/>
              </a:rPr>
              <a:t>5%</a:t>
            </a:r>
            <a:r>
              <a:rPr lang="zh-CN" altLang="en-US" dirty="0">
                <a:sym typeface="+mn-ea"/>
              </a:rPr>
              <a:t>原预训练计算量）得到的</a:t>
            </a:r>
            <a:r>
              <a:rPr lang="en-US" altLang="zh-CN" dirty="0">
                <a:sym typeface="+mn-ea"/>
              </a:rPr>
              <a:t>GQA-XXL</a:t>
            </a:r>
            <a:r>
              <a:rPr lang="zh-CN" altLang="en-US" dirty="0">
                <a:sym typeface="+mn-ea"/>
              </a:rPr>
              <a:t>模型在质量上接近</a:t>
            </a:r>
            <a:r>
              <a:rPr lang="en-US" altLang="zh-CN" dirty="0">
                <a:sym typeface="+mn-ea"/>
              </a:rPr>
              <a:t>T5-XXL MHA</a:t>
            </a:r>
            <a:r>
              <a:rPr lang="zh-CN" altLang="en-US" dirty="0">
                <a:sym typeface="+mn-ea"/>
              </a:rPr>
              <a:t>，例如平均</a:t>
            </a:r>
            <a:r>
              <a:rPr lang="en-US" altLang="zh-CN" dirty="0">
                <a:sym typeface="+mn-ea"/>
              </a:rPr>
              <a:t>ROUGE-1</a:t>
            </a:r>
            <a:r>
              <a:rPr lang="zh-CN" altLang="en-US" dirty="0">
                <a:sym typeface="+mn-ea"/>
              </a:rPr>
              <a:t>分数为</a:t>
            </a:r>
            <a:r>
              <a:rPr lang="en-US" altLang="zh-CN" dirty="0">
                <a:sym typeface="+mn-ea"/>
              </a:rPr>
              <a:t>47.1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GQA-XXL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 vs 47.2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MHA-XXL</a:t>
            </a:r>
            <a:r>
              <a:rPr lang="zh-CN" altLang="en-US" dirty="0">
                <a:sym typeface="+mn-ea"/>
              </a:rPr>
              <a:t>），差距极小。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在速度上，</a:t>
            </a:r>
            <a:r>
              <a:rPr lang="en-US" altLang="zh-CN" dirty="0">
                <a:sym typeface="+mn-ea"/>
              </a:rPr>
              <a:t>GQA-XXL</a:t>
            </a:r>
            <a:r>
              <a:rPr lang="zh-CN" altLang="en-US" dirty="0">
                <a:sym typeface="+mn-ea"/>
              </a:rPr>
              <a:t>显著优于</a:t>
            </a:r>
            <a:r>
              <a:rPr lang="en-US" altLang="zh-CN" dirty="0">
                <a:sym typeface="+mn-ea"/>
              </a:rPr>
              <a:t>MHA-XXL</a:t>
            </a:r>
            <a:r>
              <a:rPr lang="zh-CN" altLang="en-US" dirty="0">
                <a:sym typeface="+mn-ea"/>
              </a:rPr>
              <a:t>，推理时间分别为</a:t>
            </a:r>
            <a:r>
              <a:rPr lang="en-US" altLang="zh-CN" dirty="0">
                <a:sym typeface="+mn-ea"/>
              </a:rPr>
              <a:t>0.28</a:t>
            </a:r>
            <a:r>
              <a:rPr lang="zh-CN" altLang="en-US" dirty="0">
                <a:sym typeface="+mn-ea"/>
              </a:rPr>
              <a:t>秒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样本和</a:t>
            </a:r>
            <a:r>
              <a:rPr lang="en-US" altLang="zh-CN" dirty="0">
                <a:sym typeface="+mn-ea"/>
              </a:rPr>
              <a:t>1.51</a:t>
            </a:r>
            <a:r>
              <a:rPr lang="zh-CN" altLang="en-US" dirty="0">
                <a:sym typeface="+mn-ea"/>
              </a:rPr>
              <a:t>秒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样本，显示出加速效果。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052830"/>
            <a:ext cx="4371975" cy="1847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45" y="1600200"/>
            <a:ext cx="4810125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内容占位符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830" y="2493010"/>
            <a:ext cx="6753225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0" y="709295"/>
            <a:ext cx="8610600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200025"/>
            <a:ext cx="8372475" cy="6457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论文的实验设计方案紧密呼应前述技术方案，包括检查点转换（</a:t>
            </a:r>
            <a:r>
              <a:rPr lang="en-US" altLang="zh-CN" dirty="0"/>
              <a:t>mean pooling</a:t>
            </a:r>
            <a:r>
              <a:rPr lang="zh-CN" altLang="en-US" dirty="0"/>
              <a:t>）、</a:t>
            </a:r>
            <a:r>
              <a:rPr lang="en-US" altLang="zh-CN" dirty="0"/>
              <a:t>uptraining</a:t>
            </a:r>
            <a:r>
              <a:rPr lang="zh-CN" altLang="en-US" dirty="0"/>
              <a:t>（少量预训练）和</a:t>
            </a:r>
            <a:r>
              <a:rPr lang="en-US" altLang="zh-CN" dirty="0"/>
              <a:t>GQA</a:t>
            </a:r>
            <a:r>
              <a:rPr lang="zh-CN" altLang="en-US" dirty="0"/>
              <a:t>机制（分组键值头）。实验旨在验证这些设计的有效性：（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的低成本质量恢复；（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在速度</a:t>
            </a:r>
            <a:r>
              <a:rPr lang="en-US" altLang="zh-CN" dirty="0"/>
              <a:t>-</a:t>
            </a:r>
            <a:r>
              <a:rPr lang="zh-CN" altLang="en-US" dirty="0"/>
              <a:t>质量权衡上的优越性；（</a:t>
            </a:r>
            <a:r>
              <a:rPr lang="en-US" altLang="zh-CN" dirty="0"/>
              <a:t>3</a:t>
            </a:r>
            <a:r>
              <a:rPr lang="zh-CN" altLang="en-US" dirty="0"/>
              <a:t>）方法对大模型的适用性。设计分为主实验、消融实验和时间测量，突出从</a:t>
            </a:r>
            <a:r>
              <a:rPr lang="en-US" altLang="zh-CN" dirty="0"/>
              <a:t>MHA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的转换如何实现高效推理，同时接近</a:t>
            </a:r>
            <a:r>
              <a:rPr lang="en-US" altLang="zh-CN" dirty="0"/>
              <a:t>MHA</a:t>
            </a:r>
            <a:r>
              <a:rPr lang="zh-CN" altLang="en-US" dirty="0"/>
              <a:t>质量。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主实验：比较</a:t>
            </a:r>
            <a:r>
              <a:rPr lang="en-US" altLang="zh-CN" dirty="0"/>
              <a:t>MHA-Large/XXL</a:t>
            </a:r>
            <a:r>
              <a:rPr lang="zh-CN" altLang="en-US" dirty="0"/>
              <a:t>与</a:t>
            </a:r>
            <a:r>
              <a:rPr lang="en-US" altLang="zh-CN" dirty="0"/>
              <a:t>uptrained MQA/GQA-XXL</a:t>
            </a:r>
            <a:r>
              <a:rPr lang="zh-CN" altLang="en-US" dirty="0"/>
              <a:t>（</a:t>
            </a:r>
            <a:r>
              <a:rPr lang="en-US" altLang="zh-CN" dirty="0"/>
              <a:t>α=0.05</a:t>
            </a:r>
            <a:r>
              <a:rPr lang="zh-CN" altLang="en-US" dirty="0"/>
              <a:t>），使用</a:t>
            </a:r>
            <a:r>
              <a:rPr lang="en-US" altLang="zh-CN" dirty="0"/>
              <a:t>T5.1.1</a:t>
            </a:r>
            <a:r>
              <a:rPr lang="zh-CN" altLang="en-US" dirty="0"/>
              <a:t>架构，在下游任务上细调评估。呼应技术：验证</a:t>
            </a:r>
            <a:r>
              <a:rPr lang="en-US" altLang="zh-CN" dirty="0"/>
              <a:t>uptraining+GQA</a:t>
            </a:r>
            <a:r>
              <a:rPr lang="zh-CN" altLang="en-US" dirty="0"/>
              <a:t>的整体效果，突出</a:t>
            </a:r>
            <a:r>
              <a:rPr lang="en-US" altLang="zh-CN" dirty="0"/>
              <a:t>GQA-8</a:t>
            </a:r>
            <a:r>
              <a:rPr lang="zh-CN" altLang="en-US" dirty="0"/>
              <a:t>接近</a:t>
            </a:r>
            <a:r>
              <a:rPr lang="en-US" altLang="zh-CN" dirty="0"/>
              <a:t>MHA</a:t>
            </a:r>
            <a:r>
              <a:rPr lang="zh-CN" altLang="en-US" dirty="0"/>
              <a:t>质量（平均性能</a:t>
            </a:r>
            <a:r>
              <a:rPr lang="en-US" altLang="zh-CN" dirty="0"/>
              <a:t>47.1 vs 47.2</a:t>
            </a:r>
            <a:r>
              <a:rPr lang="zh-CN" altLang="en-US" dirty="0"/>
              <a:t>）但速度接近</a:t>
            </a:r>
            <a:r>
              <a:rPr lang="en-US" altLang="zh-CN" dirty="0"/>
              <a:t>MQA</a:t>
            </a:r>
            <a:r>
              <a:rPr lang="zh-CN" altLang="en-US" dirty="0"/>
              <a:t>（</a:t>
            </a:r>
            <a:r>
              <a:rPr lang="en-US" altLang="zh-CN" dirty="0"/>
              <a:t>0.28s vs 0.24s per sample</a:t>
            </a:r>
            <a:r>
              <a:rPr lang="zh-CN" altLang="en-US" dirty="0"/>
              <a:t>），强调分组机制的权衡优势（表</a:t>
            </a:r>
            <a:r>
              <a:rPr lang="en-US" altLang="zh-CN" dirty="0"/>
              <a:t>1</a:t>
            </a:r>
            <a:r>
              <a:rPr lang="zh-CN" altLang="en-US" dirty="0"/>
              <a:t>、图</a:t>
            </a:r>
            <a:r>
              <a:rPr lang="en-US" altLang="zh-CN" dirty="0"/>
              <a:t>3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消融实验：针对独特设计进行隔离测试。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转换方法消融：比较</a:t>
            </a:r>
            <a:r>
              <a:rPr lang="en-US" altLang="zh-CN" dirty="0"/>
              <a:t>mean pooling vs </a:t>
            </a:r>
            <a:r>
              <a:rPr lang="zh-CN" altLang="en-US" dirty="0"/>
              <a:t>单头选择</a:t>
            </a:r>
            <a:r>
              <a:rPr lang="en-US" altLang="zh-CN" dirty="0"/>
              <a:t> vs </a:t>
            </a:r>
            <a:r>
              <a:rPr lang="zh-CN" altLang="en-US" dirty="0"/>
              <a:t>随机初始化，突出</a:t>
            </a:r>
            <a:r>
              <a:rPr lang="en-US" altLang="zh-CN" dirty="0"/>
              <a:t>mean pooling</a:t>
            </a:r>
            <a:r>
              <a:rPr lang="zh-CN" altLang="en-US" dirty="0"/>
              <a:t>保留预训练信息的特点（图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</a:t>
            </a:r>
            <a:r>
              <a:rPr lang="en-US" altLang="zh-CN" dirty="0"/>
              <a:t>α</a:t>
            </a:r>
            <a:r>
              <a:rPr lang="zh-CN" altLang="en-US" dirty="0"/>
              <a:t>消融：测试</a:t>
            </a:r>
            <a:r>
              <a:rPr lang="en-US" altLang="zh-CN" dirty="0"/>
              <a:t>α=0~0.1</a:t>
            </a:r>
            <a:r>
              <a:rPr lang="zh-CN" altLang="en-US" dirty="0"/>
              <a:t>，突出</a:t>
            </a:r>
            <a:r>
              <a:rPr lang="en-US" altLang="zh-CN" dirty="0"/>
              <a:t>5%</a:t>
            </a:r>
            <a:r>
              <a:rPr lang="zh-CN" altLang="en-US" dirty="0"/>
              <a:t>计算的效率和递减回报（图</a:t>
            </a:r>
            <a:r>
              <a:rPr lang="en-US" altLang="zh-CN" dirty="0"/>
              <a:t>5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</a:t>
            </a:r>
            <a:r>
              <a:rPr lang="en-US" altLang="zh-CN" dirty="0"/>
              <a:t>G</a:t>
            </a:r>
            <a:r>
              <a:rPr lang="zh-CN" altLang="en-US" dirty="0"/>
              <a:t>消融：测试</a:t>
            </a:r>
            <a:r>
              <a:rPr lang="en-US" altLang="zh-CN" dirty="0"/>
              <a:t>G=1~64</a:t>
            </a:r>
            <a:r>
              <a:rPr lang="zh-CN" altLang="en-US" dirty="0"/>
              <a:t>，突出</a:t>
            </a:r>
            <a:r>
              <a:rPr lang="en-US" altLang="zh-CN" dirty="0"/>
              <a:t>G=8</a:t>
            </a:r>
            <a:r>
              <a:rPr lang="zh-CN" altLang="en-US" dirty="0"/>
              <a:t>作为中间组数的低开销权衡（图</a:t>
            </a:r>
            <a:r>
              <a:rPr lang="en-US" altLang="zh-CN" dirty="0"/>
              <a:t>6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时间测量：使用</a:t>
            </a:r>
            <a:r>
              <a:rPr lang="en-US" altLang="zh-CN" dirty="0"/>
              <a:t>xprof</a:t>
            </a:r>
            <a:r>
              <a:rPr lang="zh-CN" altLang="en-US" dirty="0"/>
              <a:t>在</a:t>
            </a:r>
            <a:r>
              <a:rPr lang="en-US" altLang="zh-CN" dirty="0"/>
              <a:t>TPUv4</a:t>
            </a:r>
            <a:r>
              <a:rPr lang="zh-CN" altLang="en-US" dirty="0"/>
              <a:t>上测</a:t>
            </a:r>
            <a:r>
              <a:rPr lang="en-US" altLang="zh-CN" dirty="0"/>
              <a:t>per-sample</a:t>
            </a:r>
            <a:r>
              <a:rPr lang="zh-CN" altLang="en-US" dirty="0"/>
              <a:t>时间，优化批次和并行，突出</a:t>
            </a:r>
            <a:r>
              <a:rPr lang="en-US" altLang="zh-CN" dirty="0"/>
              <a:t>GQA</a:t>
            </a:r>
            <a:r>
              <a:rPr lang="zh-CN" altLang="en-US" dirty="0"/>
              <a:t>减少键值缓存（</a:t>
            </a:r>
            <a:r>
              <a:rPr lang="en-US" altLang="zh-CN" dirty="0"/>
              <a:t>O(Gd) vs O(Hd)</a:t>
            </a:r>
            <a:r>
              <a:rPr lang="zh-CN" altLang="en-US" dirty="0"/>
              <a:t>）的带宽优化特点。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整体方案通过基线对比和消融，捋清</a:t>
            </a:r>
            <a:r>
              <a:rPr lang="en-US" altLang="zh-CN" dirty="0"/>
              <a:t>uptraining+GQA</a:t>
            </a:r>
            <a:r>
              <a:rPr lang="zh-CN" altLang="en-US" dirty="0"/>
              <a:t>如何经济地从</a:t>
            </a:r>
            <a:r>
              <a:rPr lang="en-US" altLang="zh-CN" dirty="0"/>
              <a:t>MHA</a:t>
            </a:r>
            <a:r>
              <a:rPr lang="zh-CN" altLang="en-US" dirty="0"/>
              <a:t>检查点生成高效模型，适用于长输入任务。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dirty="0"/>
              <a:t>数据处理方式：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预训练用</a:t>
            </a:r>
            <a:r>
              <a:rPr lang="en-US" altLang="zh-CN" dirty="0"/>
              <a:t>C4</a:t>
            </a:r>
            <a:r>
              <a:rPr lang="zh-CN" altLang="en-US" dirty="0"/>
              <a:t>数据集。评估数据集使用标准分割，输入</a:t>
            </a:r>
            <a:r>
              <a:rPr lang="en-US" altLang="zh-CN" dirty="0"/>
              <a:t>/</a:t>
            </a:r>
            <a:r>
              <a:rPr lang="zh-CN" altLang="en-US" dirty="0"/>
              <a:t>输出长度：</a:t>
            </a:r>
            <a:r>
              <a:rPr lang="en-US" altLang="zh-CN" dirty="0"/>
              <a:t>CNN/DM</a:t>
            </a:r>
            <a:r>
              <a:rPr lang="zh-CN" altLang="en-US" dirty="0"/>
              <a:t>和</a:t>
            </a:r>
            <a:r>
              <a:rPr lang="en-US" altLang="zh-CN" dirty="0"/>
              <a:t>WMT</a:t>
            </a:r>
            <a:r>
              <a:rPr lang="zh-CN" altLang="en-US" dirty="0"/>
              <a:t>为</a:t>
            </a:r>
            <a:r>
              <a:rPr lang="en-US" altLang="zh-CN" dirty="0"/>
              <a:t>512/256</a:t>
            </a:r>
            <a:r>
              <a:rPr lang="zh-CN" altLang="en-US" dirty="0"/>
              <a:t>，其他摘要</a:t>
            </a:r>
            <a:r>
              <a:rPr lang="en-US" altLang="zh-CN" dirty="0"/>
              <a:t>2048/512</a:t>
            </a:r>
            <a:r>
              <a:rPr lang="zh-CN" altLang="en-US" dirty="0"/>
              <a:t>，</a:t>
            </a:r>
            <a:r>
              <a:rPr lang="en-US" altLang="zh-CN" dirty="0"/>
              <a:t>TriviaQA 2048/32</a:t>
            </a:r>
            <a:r>
              <a:rPr lang="zh-CN" altLang="en-US" dirty="0"/>
              <a:t>。细调至收敛，选择最佳</a:t>
            </a:r>
            <a:r>
              <a:rPr lang="en-US" altLang="zh-CN" dirty="0"/>
              <a:t>dev</a:t>
            </a:r>
            <a:r>
              <a:rPr lang="zh-CN" altLang="en-US" dirty="0"/>
              <a:t>检查点。时间实验优化批次（</a:t>
            </a:r>
            <a:r>
              <a:rPr lang="en-US" altLang="zh-CN" dirty="0"/>
              <a:t>32/TPU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Research Question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RQ1</a:t>
            </a:r>
            <a:r>
              <a:rPr lang="zh-CN" altLang="en-US" dirty="0"/>
              <a:t>：能否以少量计算（</a:t>
            </a:r>
            <a:r>
              <a:rPr lang="en-US" altLang="zh-CN" dirty="0"/>
              <a:t>5%</a:t>
            </a:r>
            <a:r>
              <a:rPr lang="zh-CN" altLang="en-US" dirty="0"/>
              <a:t>原预训练）从</a:t>
            </a:r>
            <a:r>
              <a:rPr lang="en-US" altLang="zh-CN" dirty="0"/>
              <a:t>MHA</a:t>
            </a:r>
            <a:r>
              <a:rPr lang="zh-CN" altLang="en-US" dirty="0"/>
              <a:t>检查点</a:t>
            </a:r>
            <a:r>
              <a:rPr lang="en-US" altLang="zh-CN" dirty="0"/>
              <a:t>uptrain</a:t>
            </a:r>
            <a:r>
              <a:rPr lang="zh-CN" altLang="en-US" dirty="0"/>
              <a:t>到</a:t>
            </a:r>
            <a:r>
              <a:rPr lang="en-US" altLang="zh-CN" dirty="0"/>
              <a:t>MQA/GQA</a:t>
            </a:r>
            <a:r>
              <a:rPr lang="zh-CN" altLang="en-US" dirty="0"/>
              <a:t>模型，同时恢复质量？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RQ2</a:t>
            </a:r>
            <a:r>
              <a:rPr lang="zh-CN" altLang="en-US" dirty="0"/>
              <a:t>：</a:t>
            </a:r>
            <a:r>
              <a:rPr lang="en-US" altLang="zh-CN" dirty="0"/>
              <a:t>GQA</a:t>
            </a:r>
            <a:r>
              <a:rPr lang="zh-CN" altLang="en-US" dirty="0"/>
              <a:t>是否能在质量接近</a:t>
            </a:r>
            <a:r>
              <a:rPr lang="en-US" altLang="zh-CN" dirty="0"/>
              <a:t>MHA</a:t>
            </a:r>
            <a:r>
              <a:rPr lang="zh-CN" altLang="en-US" dirty="0"/>
              <a:t>的同时，实现接近</a:t>
            </a:r>
            <a:r>
              <a:rPr lang="en-US" altLang="zh-CN" dirty="0"/>
              <a:t>MQA</a:t>
            </a:r>
            <a:r>
              <a:rPr lang="zh-CN" altLang="en-US" dirty="0"/>
              <a:t>的速度，尤其对大模型？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RQ3</a:t>
            </a:r>
            <a:r>
              <a:rPr lang="zh-CN" altLang="en-US" dirty="0"/>
              <a:t>：</a:t>
            </a:r>
            <a:r>
              <a:rPr lang="en-US" altLang="zh-CN" dirty="0"/>
              <a:t>uptraining</a:t>
            </a:r>
            <a:r>
              <a:rPr lang="zh-CN" altLang="en-US" dirty="0"/>
              <a:t>和</a:t>
            </a:r>
            <a:r>
              <a:rPr lang="en-US" altLang="zh-CN" dirty="0"/>
              <a:t>GQA</a:t>
            </a:r>
            <a:r>
              <a:rPr lang="zh-CN" altLang="en-US" dirty="0"/>
              <a:t>如何影响训练稳定性和下游任务性能（如长输入任务）？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内容占位符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440" y="1557020"/>
            <a:ext cx="6753225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505" y="687705"/>
            <a:ext cx="8610600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052830"/>
            <a:ext cx="7627620" cy="3223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200025"/>
            <a:ext cx="8375650" cy="64579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如何通过实验体现技术方案中的每一项独特设计的效果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均值池化：图</a:t>
            </a:r>
            <a:r>
              <a:rPr lang="en-US" altLang="zh-CN" dirty="0"/>
              <a:t>4</a:t>
            </a:r>
            <a:r>
              <a:rPr lang="zh-CN" altLang="en-US" dirty="0"/>
              <a:t>显示均值池化性能最高（</a:t>
            </a:r>
            <a:r>
              <a:rPr lang="en-US" altLang="zh-CN" dirty="0"/>
              <a:t>55.6 vs 55.2/54.4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：图</a:t>
            </a:r>
            <a:r>
              <a:rPr lang="en-US" altLang="zh-CN" dirty="0"/>
              <a:t>5</a:t>
            </a:r>
            <a:r>
              <a:rPr lang="zh-CN" altLang="en-US" dirty="0"/>
              <a:t>显示</a:t>
            </a:r>
            <a:r>
              <a:rPr lang="en-US" altLang="zh-CN" dirty="0"/>
              <a:t>α=0.05</a:t>
            </a:r>
            <a:r>
              <a:rPr lang="zh-CN" altLang="en-US" dirty="0"/>
              <a:t>提升性能（</a:t>
            </a:r>
            <a:r>
              <a:rPr lang="en-US" altLang="zh-CN" dirty="0"/>
              <a:t>54</a:t>
            </a:r>
            <a:r>
              <a:rPr lang="en-US" altLang="en-US" dirty="0"/>
              <a:t>→</a:t>
            </a:r>
            <a:r>
              <a:rPr lang="en-US" altLang="zh-CN" dirty="0"/>
              <a:t>57</a:t>
            </a:r>
            <a:r>
              <a:rPr lang="zh-CN" altLang="en-US" dirty="0"/>
              <a:t>），表</a:t>
            </a:r>
            <a:r>
              <a:rPr lang="en-US" altLang="zh-CN" dirty="0"/>
              <a:t>1</a:t>
            </a:r>
            <a:r>
              <a:rPr lang="zh-CN" altLang="en-US" dirty="0"/>
              <a:t>验证质量恢复。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分组：图</a:t>
            </a:r>
            <a:r>
              <a:rPr lang="en-US" altLang="zh-CN" dirty="0"/>
              <a:t>6</a:t>
            </a:r>
            <a:r>
              <a:rPr lang="zh-CN" altLang="en-US" dirty="0"/>
              <a:t>显示</a:t>
            </a:r>
            <a:r>
              <a:rPr lang="en-US" altLang="zh-CN" dirty="0"/>
              <a:t>G=8</a:t>
            </a:r>
            <a:r>
              <a:rPr lang="zh-CN" altLang="en-US" dirty="0"/>
              <a:t>增幅小，表</a:t>
            </a:r>
            <a:r>
              <a:rPr lang="en-US" altLang="zh-CN" dirty="0"/>
              <a:t>1</a:t>
            </a:r>
            <a:r>
              <a:rPr lang="zh-CN" altLang="en-US" dirty="0"/>
              <a:t>显示接近</a:t>
            </a:r>
            <a:r>
              <a:rPr lang="en-US" altLang="zh-CN" dirty="0"/>
              <a:t>MHA</a:t>
            </a:r>
            <a:r>
              <a:rPr lang="zh-CN" altLang="en-US" dirty="0"/>
              <a:t>质量（</a:t>
            </a:r>
            <a:r>
              <a:rPr lang="en-US" altLang="zh-CN" dirty="0"/>
              <a:t>47.1 vs 47.2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稳定性：附录</a:t>
            </a:r>
            <a:r>
              <a:rPr lang="en-US" altLang="zh-CN" dirty="0"/>
              <a:t>A</a:t>
            </a:r>
            <a:r>
              <a:rPr lang="zh-CN" altLang="en-US" dirty="0"/>
              <a:t>显示</a:t>
            </a:r>
            <a:r>
              <a:rPr lang="en-US" altLang="zh-CN" dirty="0"/>
              <a:t>GQA</a:t>
            </a:r>
            <a:r>
              <a:rPr lang="zh-CN" altLang="en-US" dirty="0"/>
              <a:t>稳定，</a:t>
            </a:r>
            <a:r>
              <a:rPr lang="en-US" altLang="zh-CN" dirty="0"/>
              <a:t>MQA</a:t>
            </a:r>
            <a:r>
              <a:rPr lang="zh-CN" altLang="en-US" dirty="0"/>
              <a:t>需平均。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r>
              <a:rPr lang="zh-CN" altLang="en-US" dirty="0"/>
              <a:t>实验设计方案</a:t>
            </a:r>
            <a:r>
              <a:rPr lang="en-US" altLang="zh-CN" dirty="0"/>
              <a:t>   </a:t>
            </a:r>
            <a:endParaRPr lang="en-US" altLang="zh-CN" dirty="0"/>
          </a:p>
          <a:p>
            <a:r>
              <a:rPr lang="zh-CN" altLang="en-US" sz="2800" dirty="0">
                <a:sym typeface="+mn-ea"/>
              </a:rPr>
              <a:t>每一项实验用了哪些指标来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dirty="0"/>
              <a:t>主实验：推理时间</a:t>
            </a:r>
            <a:r>
              <a:rPr lang="en-US" altLang="zh-CN" dirty="0"/>
              <a:t>T_infer (s/sample, xprof</a:t>
            </a:r>
            <a:r>
              <a:rPr lang="zh-CN" altLang="en-US" dirty="0"/>
              <a:t>测</a:t>
            </a:r>
            <a:r>
              <a:rPr lang="en-US" altLang="zh-CN" dirty="0"/>
              <a:t>)</a:t>
            </a:r>
            <a:r>
              <a:rPr lang="zh-CN" altLang="en-US" dirty="0"/>
              <a:t>；质量指标</a:t>
            </a:r>
            <a:r>
              <a:rPr lang="en-US" altLang="zh-CN" dirty="0"/>
              <a:t>-ROUGE-1 (</a:t>
            </a:r>
            <a:r>
              <a:rPr lang="zh-CN" altLang="en-US" dirty="0"/>
              <a:t>摘要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BLEU (</a:t>
            </a:r>
            <a:r>
              <a:rPr lang="zh-CN" altLang="en-US" dirty="0"/>
              <a:t>翻译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F1 (TriviaQA)</a:t>
            </a:r>
            <a:r>
              <a:rPr lang="zh-CN" altLang="en-US" dirty="0"/>
              <a:t>；平均性能（所有任务）。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转换方法消融：平均性能（</a:t>
            </a:r>
            <a:r>
              <a:rPr lang="en-US" altLang="zh-CN" dirty="0"/>
              <a:t>CNN/MultiNews/TriviaQA</a:t>
            </a:r>
            <a:r>
              <a:rPr lang="zh-CN" altLang="en-US" dirty="0"/>
              <a:t>子集的</a:t>
            </a:r>
            <a:r>
              <a:rPr lang="en-US" altLang="zh-CN" dirty="0"/>
              <a:t>ROUGE/F1</a:t>
            </a:r>
            <a:r>
              <a:rPr lang="zh-CN" altLang="en-US" dirty="0"/>
              <a:t>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Uptraining</a:t>
            </a:r>
            <a:r>
              <a:rPr lang="zh-CN" altLang="en-US" dirty="0"/>
              <a:t>比例消融：平均性能（同上子集）。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GQA</a:t>
            </a:r>
            <a:r>
              <a:rPr lang="zh-CN" altLang="en-US" dirty="0"/>
              <a:t>组数消融：</a:t>
            </a:r>
            <a:r>
              <a:rPr lang="en-US" altLang="zh-CN" dirty="0"/>
              <a:t>T_infer (s/sample, </a:t>
            </a:r>
            <a:r>
              <a:rPr lang="zh-CN" altLang="en-US" dirty="0"/>
              <a:t>输入</a:t>
            </a:r>
            <a:r>
              <a:rPr lang="en-US" altLang="zh-CN" dirty="0"/>
              <a:t>2048</a:t>
            </a:r>
            <a:r>
              <a:rPr lang="zh-CN" altLang="en-US" dirty="0"/>
              <a:t>输出</a:t>
            </a:r>
            <a:r>
              <a:rPr lang="en-US" altLang="zh-CN" dirty="0"/>
              <a:t>512)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稳定性：损失峰值发生率、细调发散率、多跑方差。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2389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Experiments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（可加页）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1600201"/>
            <a:ext cx="10598968" cy="452596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最后总结本次研读的论文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论文提出从</a:t>
            </a:r>
            <a:r>
              <a:rPr lang="en-US" altLang="zh-CN" dirty="0"/>
              <a:t>MHA</a:t>
            </a:r>
            <a:r>
              <a:rPr lang="zh-CN" altLang="en-US" dirty="0"/>
              <a:t>检查点</a:t>
            </a:r>
            <a:r>
              <a:rPr lang="en-US" altLang="zh-CN" dirty="0"/>
              <a:t>uptrain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r>
              <a:rPr lang="zh-CN" altLang="en-US" dirty="0"/>
              <a:t>的低成本方法，平衡推理速度和质量。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创新点：（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uptraining</a:t>
            </a:r>
            <a:r>
              <a:rPr lang="zh-CN" altLang="en-US" dirty="0"/>
              <a:t>配方（</a:t>
            </a:r>
            <a:r>
              <a:rPr lang="en-US" altLang="zh-CN" dirty="0"/>
              <a:t>5%</a:t>
            </a:r>
            <a:r>
              <a:rPr lang="zh-CN" altLang="en-US" dirty="0"/>
              <a:t>计算）；（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GQA</a:t>
            </a:r>
            <a:r>
              <a:rPr lang="zh-CN" altLang="en-US" dirty="0"/>
              <a:t>机制；（</a:t>
            </a:r>
            <a:r>
              <a:rPr lang="en-US" altLang="zh-CN" dirty="0"/>
              <a:t>3</a:t>
            </a:r>
            <a:r>
              <a:rPr lang="zh-CN" altLang="en-US" dirty="0"/>
              <a:t>）均值池化转换。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不足：仅限编码器</a:t>
            </a:r>
            <a:r>
              <a:rPr lang="en-US" altLang="zh-CN" dirty="0"/>
              <a:t>-</a:t>
            </a:r>
            <a:r>
              <a:rPr lang="zh-CN" altLang="en-US" dirty="0"/>
              <a:t>解码器模型，未比从零训练</a:t>
            </a:r>
            <a:r>
              <a:rPr lang="en-US" altLang="zh-CN" dirty="0"/>
              <a:t>GQA</a:t>
            </a:r>
            <a:r>
              <a:rPr lang="zh-CN" altLang="en-US" dirty="0"/>
              <a:t>；长序列质量用</a:t>
            </a:r>
            <a:r>
              <a:rPr lang="en-US" altLang="zh-CN" dirty="0"/>
              <a:t>ROUGE</a:t>
            </a:r>
            <a:r>
              <a:rPr lang="zh-CN" altLang="en-US" dirty="0"/>
              <a:t>评估有限；未探讨解码器</a:t>
            </a:r>
            <a:r>
              <a:rPr lang="en-US" altLang="zh-CN" dirty="0"/>
              <a:t>-only</a:t>
            </a:r>
            <a:r>
              <a:rPr lang="zh-CN" altLang="en-US" dirty="0"/>
              <a:t>模型。</a:t>
            </a:r>
            <a:endParaRPr lang="zh-CN" altLang="en-US" dirty="0"/>
          </a:p>
          <a:p>
            <a:r>
              <a:rPr lang="en-US" altLang="zh-CN" dirty="0"/>
              <a:t> </a:t>
            </a:r>
            <a:r>
              <a:rPr lang="zh-CN" altLang="en-US" dirty="0"/>
              <a:t>启发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强调模型复用和结构插值的重要性，</a:t>
            </a:r>
            <a:r>
              <a:rPr lang="en-US" altLang="zh-CN" dirty="0"/>
              <a:t>GQA</a:t>
            </a:r>
            <a:r>
              <a:rPr lang="zh-CN" altLang="en-US" dirty="0"/>
              <a:t>分组策略可扩展到其他优化（如</a:t>
            </a:r>
            <a:r>
              <a:rPr lang="en-US" altLang="zh-CN" dirty="0"/>
              <a:t>FLOPs</a:t>
            </a:r>
            <a:r>
              <a:rPr lang="zh-CN" altLang="en-US" dirty="0"/>
              <a:t>），启发未来研究关注大模型适配性。</a:t>
            </a:r>
            <a:endParaRPr lang="zh-CN" altLang="en-US" dirty="0"/>
          </a:p>
        </p:txBody>
      </p:sp>
      <p:sp>
        <p:nvSpPr>
          <p:cNvPr id="3" name="文本框 31"/>
          <p:cNvSpPr txBox="1">
            <a:spLocks noChangeArrowheads="1"/>
          </p:cNvSpPr>
          <p:nvPr/>
        </p:nvSpPr>
        <p:spPr bwMode="auto">
          <a:xfrm>
            <a:off x="335360" y="260648"/>
            <a:ext cx="6449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Summary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700214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896802" y="2414028"/>
            <a:ext cx="2398395" cy="14204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endParaRPr lang="en-US" altLang="zh-CN" sz="7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df4f97e-5d97-48a3-8279-bc9b47c7ff7e"/>
  <p:tag name="COMMONDATA" val="eyJoZGlkIjoiNzU5MmFlOTk1MmZmMDFkNGNmMzllMzQyZDMwYTA0MTg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12927</Words>
  <Application>WPS 演示</Application>
  <PresentationFormat>宽屏</PresentationFormat>
  <Paragraphs>389</Paragraphs>
  <Slides>38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Microsoft YaHei UI</vt:lpstr>
      <vt:lpstr>Calibri</vt:lpstr>
      <vt:lpstr>Arial Unicode MS</vt:lpstr>
      <vt:lpstr>等线 Light</vt:lpstr>
      <vt:lpstr>Calibri Light</vt:lpstr>
      <vt:lpstr>等线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胡江龙</cp:lastModifiedBy>
  <cp:revision>12</cp:revision>
  <cp:lastPrinted>2024-06-05T08:07:00Z</cp:lastPrinted>
  <dcterms:created xsi:type="dcterms:W3CDTF">2024-06-05T08:07:00Z</dcterms:created>
  <dcterms:modified xsi:type="dcterms:W3CDTF">2025-10-18T06:32:28Z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B60D8D0F6F814073AC827C3FC5655C5E_13</vt:lpwstr>
  </property>
</Properties>
</file>